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($m)</c:v>
                </c:pt>
              </c:strCache>
            </c:strRef>
          </c:tx>
          <c:spPr>
            <a:solidFill>
              <a:srgbClr val="7B4F82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2014 Q1</c:v>
                </c:pt>
                <c:pt idx="1">
                  <c:v>2014 Q4</c:v>
                </c:pt>
                <c:pt idx="2">
                  <c:v>2015 Q1</c:v>
                </c:pt>
                <c:pt idx="3">
                  <c:v>2015 Q2</c:v>
                </c:pt>
                <c:pt idx="4">
                  <c:v>2015 Q3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1450</c:v>
                </c:pt>
                <c:pt idx="2">
                  <c:v>2250</c:v>
                </c:pt>
                <c:pt idx="3">
                  <c:v>2050</c:v>
                </c:pt>
                <c:pt idx="4">
                  <c:v>1670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7B4F82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F150</c:v>
                </c:pt>
                <c:pt idx="1">
                  <c:v>Altima</c:v>
                </c:pt>
                <c:pt idx="2">
                  <c:v>Escape</c:v>
                </c:pt>
                <c:pt idx="3">
                  <c:v>Fusion</c:v>
                </c:pt>
                <c:pt idx="4">
                  <c:v>G Sedan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275</c:v>
                </c:pt>
                <c:pt idx="1">
                  <c:v>220</c:v>
                </c:pt>
                <c:pt idx="2">
                  <c:v>165</c:v>
                </c:pt>
                <c:pt idx="3">
                  <c:v>160</c:v>
                </c:pt>
                <c:pt idx="4">
                  <c:v>150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2E1F3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C96F97"/>
              </a:solidFill>
              <a:ln>
                <a:noFill/>
              </a:ln>
            </c:spPr>
          </c:dPt>
          <c:dPt>
            <c:idx val="1"/>
            <c:spPr>
              <a:solidFill>
                <a:srgbClr val="7B4F82"/>
              </a:solidFill>
              <a:ln>
                <a:noFill/>
              </a:ln>
            </c:spPr>
          </c:dPt>
          <c:dPt>
            <c:idx val="2"/>
            <c:spPr>
              <a:solidFill>
                <a:srgbClr val="4A2C55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Low Margin</c:v>
                </c:pt>
                <c:pt idx="1">
                  <c:v>Medium Margin</c:v>
                </c:pt>
                <c:pt idx="2">
                  <c:v>High Margin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47.2</c:v>
                </c:pt>
                <c:pt idx="1">
                  <c:v>42.7</c:v>
                </c:pt>
                <c:pt idx="2">
                  <c:v>10.1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7B4F82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FL</c:v>
                </c:pt>
                <c:pt idx="1">
                  <c:v>CA</c:v>
                </c:pt>
                <c:pt idx="2">
                  <c:v>PA</c:v>
                </c:pt>
                <c:pt idx="3">
                  <c:v>TX</c:v>
                </c:pt>
                <c:pt idx="4">
                  <c:v>GA</c:v>
                </c:pt>
                <c:pt idx="5">
                  <c:v>NJ</c:v>
                </c:pt>
                <c:pt idx="6">
                  <c:v>TN</c:v>
                </c:pt>
                <c:pt idx="7">
                  <c:v>IL</c:v>
                </c:pt>
                <c:pt idx="8">
                  <c:v>OH</c:v>
                </c:pt>
                <c:pt idx="9">
                  <c:v>MO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1100</c:v>
                </c:pt>
                <c:pt idx="1">
                  <c:v>1050</c:v>
                </c:pt>
                <c:pt idx="2">
                  <c:v>850</c:v>
                </c:pt>
                <c:pt idx="3">
                  <c:v>600</c:v>
                </c:pt>
                <c:pt idx="4">
                  <c:v>450</c:v>
                </c:pt>
                <c:pt idx="5">
                  <c:v>400</c:v>
                </c:pt>
                <c:pt idx="6">
                  <c:v>380</c:v>
                </c:pt>
                <c:pt idx="7">
                  <c:v>370</c:v>
                </c:pt>
                <c:pt idx="8">
                  <c:v>350</c:v>
                </c:pt>
                <c:pt idx="9">
                  <c:v>250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MMR ($k)</c:v>
                </c:pt>
              </c:strCache>
            </c:strRef>
          </c:tx>
          <c:spPr>
            <a:solidFill>
              <a:srgbClr val="7B4F82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</c:v>
                </c:pt>
                <c:pt idx="1">
                  <c:v>76</c:v>
                </c:pt>
                <c:pt idx="2">
                  <c:v>72</c:v>
                </c:pt>
                <c:pt idx="3">
                  <c:v>70</c:v>
                </c:pt>
                <c:pt idx="4">
                  <c:v>76</c:v>
                </c:pt>
                <c:pt idx="5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MMR ($k)</c:v>
                </c:pt>
              </c:strCache>
            </c:strRef>
          </c:tx>
          <c:spPr>
            <a:solidFill>
              <a:srgbClr val="7B4F82"/>
            </a:solidFill>
            <a:ln w="34925">
              <a:noFill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2014 Q1</c:v>
                </c:pt>
                <c:pt idx="1">
                  <c:v>2014 Q4</c:v>
                </c:pt>
                <c:pt idx="2">
                  <c:v>2015 Q1</c:v>
                </c:pt>
                <c:pt idx="3">
                  <c:v>2015 Q2</c:v>
                </c:pt>
                <c:pt idx="4">
                  <c:v>2015 Q3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12.5</c:v>
                </c:pt>
                <c:pt idx="1">
                  <c:v>13.8</c:v>
                </c:pt>
                <c:pt idx="2">
                  <c:v>14.2</c:v>
                </c:pt>
                <c:pt idx="3">
                  <c:v>14.0</c:v>
                </c:pt>
                <c:pt idx="4">
                  <c:v>13.6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Selling Price ($k)</c:v>
                </c:pt>
              </c:strCache>
            </c:strRef>
          </c:tx>
          <c:spPr>
            <a:solidFill>
              <a:srgbClr val="C96F97"/>
            </a:solidFill>
            <a:ln w="34925">
              <a:noFill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2014 Q1</c:v>
                </c:pt>
                <c:pt idx="1">
                  <c:v>2014 Q4</c:v>
                </c:pt>
                <c:pt idx="2">
                  <c:v>2015 Q1</c:v>
                </c:pt>
                <c:pt idx="3">
                  <c:v>2015 Q2</c:v>
                </c:pt>
                <c:pt idx="4">
                  <c:v>2015 Q3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12.1</c:v>
                </c:pt>
                <c:pt idx="1">
                  <c:v>13.5</c:v>
                </c:pt>
                <c:pt idx="2">
                  <c:v>14.0</c:v>
                </c:pt>
                <c:pt idx="3">
                  <c:v>13.8</c:v>
                </c:pt>
                <c:pt idx="4">
                  <c:v>13.4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(k)</c:v>
                </c:pt>
              </c:strCache>
            </c:strRef>
          </c:tx>
          <c:spPr>
            <a:solidFill>
              <a:srgbClr val="7B4F82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White</c:v>
                </c:pt>
                <c:pt idx="1">
                  <c:v>Black</c:v>
                </c:pt>
                <c:pt idx="2">
                  <c:v>Silver</c:v>
                </c:pt>
                <c:pt idx="3">
                  <c:v>Grey</c:v>
                </c:pt>
                <c:pt idx="4">
                  <c:v>Blue</c:v>
                </c:pt>
                <c:pt idx="5">
                  <c:v>Red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155</c:v>
                </c:pt>
                <c:pt idx="1">
                  <c:v>120</c:v>
                </c:pt>
                <c:pt idx="2">
                  <c:v>95</c:v>
                </c:pt>
                <c:pt idx="3">
                  <c:v>80</c:v>
                </c:pt>
                <c:pt idx="4">
                  <c:v>55</c:v>
                </c:pt>
                <c:pt idx="5">
                  <c:v>30</c:v>
                </c:pt>
                <c:pt idx="6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556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(%)</c:v>
                </c:pt>
              </c:strCache>
            </c:strRef>
          </c:tx>
          <c:dPt>
            <c:idx val="0"/>
            <c:spPr>
              <a:solidFill>
                <a:srgbClr val="7B4F82"/>
              </a:solidFill>
              <a:ln>
                <a:noFill/>
              </a:ln>
            </c:spPr>
          </c:dPt>
          <c:dPt>
            <c:idx val="1"/>
            <c:spPr>
              <a:solidFill>
                <a:srgbClr val="C96F97"/>
              </a:solidFill>
              <a:ln>
                <a:noFill/>
              </a:ln>
            </c:spPr>
          </c:dPt>
          <c:dPt>
            <c:idx val="2"/>
            <c:spPr>
              <a:solidFill>
                <a:srgbClr val="D9C3A8"/>
              </a:solidFill>
              <a:ln>
                <a:noFill/>
              </a:ln>
            </c:spPr>
          </c:dPt>
          <c:dPt>
            <c:idx val="3"/>
            <c:spPr>
              <a:solidFill>
                <a:srgbClr val="4A2C55"/>
              </a:solidFill>
              <a:ln>
                <a:noFill/>
              </a:ln>
            </c:spPr>
          </c:dPt>
          <c:dPt>
            <c:idx val="4"/>
            <c:spPr>
              <a:solidFill>
                <a:srgbClr val="E8A8C0"/>
              </a:solidFill>
              <a:ln>
                <a:noFill/>
              </a:ln>
            </c:spPr>
          </c:dPt>
          <c:dPt>
            <c:idx val="5"/>
            <c:spPr>
              <a:solidFill>
                <a:srgbClr val="A882A8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Sedan</c:v>
                </c:pt>
                <c:pt idx="1">
                  <c:v>SUV</c:v>
                </c:pt>
                <c:pt idx="2">
                  <c:v>Pickup</c:v>
                </c:pt>
                <c:pt idx="3">
                  <c:v>Coupe</c:v>
                </c:pt>
                <c:pt idx="4">
                  <c:v>Hatchback</c:v>
                </c:pt>
                <c:pt idx="5">
                  <c:v>Van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27</c:v>
                </c:pt>
                <c:pt idx="2">
                  <c:v>18</c:v>
                </c:pt>
                <c:pt idx="3">
                  <c:v>8</c:v>
                </c:pt>
                <c:pt idx="4">
                  <c:v>6</c:v>
                </c:pt>
                <c:pt idx="5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E8A8C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A2C55"/>
                </a:solidFill>
                <a:latin typeface="Calibri"/>
              </a:rPr>
              <a:t>CASE STUDY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2E1F35"/>
                </a:solidFill>
                <a:latin typeface="Georgia"/>
              </a:rPr>
              <a:t>BRIGHT MOTORS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C96F97"/>
                </a:solidFill>
                <a:latin typeface="Georgia"/>
              </a:rP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1">
                <a:solidFill>
                  <a:srgbClr val="4A2C55"/>
                </a:solidFill>
                <a:latin typeface="Georgia"/>
              </a:rPr>
              <a:t>Created by Mogau Mabula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556B"/>
                </a:solidFill>
                <a:latin typeface="Calibri"/>
              </a:rPr>
              <a:t>Business Insights for the New Head of Sales</a:t>
            </a:r>
          </a:p>
        </p:txBody>
      </p:sp>
      <p:pic>
        <p:nvPicPr>
          <p:cNvPr id="11" name="Picture 10" descr="suv_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94560"/>
            <a:ext cx="5486400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A8C0"/>
                </a:solidFill>
                <a:latin typeface="Calibri"/>
              </a:rPr>
              <a:t>DATA  •  INSIGHT  • 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7EFE6"/>
                </a:solidFill>
                <a:latin typeface="Calibri"/>
              </a:rPr>
              <a:t>A data-driven look at revenue, performance and growth opportunities across the Bright Motors dealership network.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What we'll cover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4864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01   Executive Summary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02   Business Context &amp; Objectives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03   Headline KPIs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04   Revenue Trends Over Time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05   Top Performing Models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06   Profit Margin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4864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07   Geographic Performance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08   Weekly Sales Patterns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09   MMR vs Selling Price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10   Color &amp; Body Preferences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11   Key Insights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12   Recommendations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2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A profitable but uneven business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8580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E1F35"/>
                </a:solidFill>
                <a:latin typeface="Calibri"/>
              </a:rPr>
              <a:t>▸  Bright Motors generated $7.6 bn in revenue across 558.8k transactions.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E1F35"/>
                </a:solidFill>
                <a:latin typeface="Calibri"/>
              </a:rPr>
              <a:t>▸  Market value of inventory ($7.7 bn) is closely aligned to revenue — pricing is on track.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E1F35"/>
                </a:solidFill>
                <a:latin typeface="Calibri"/>
              </a:rPr>
              <a:t>▸  Ford F150 and Nissan Altima dominate sales; the top 5 models account for ~$967 m.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E1F35"/>
                </a:solidFill>
                <a:latin typeface="Calibri"/>
              </a:rPr>
              <a:t>▸  47% of revenue comes from Low-Margin deals — profitability is under pressure.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E1F35"/>
                </a:solidFill>
                <a:latin typeface="Calibri"/>
              </a:rPr>
              <a:t>▸  Florida, California and Pennsylvania are the strongest revenue regions.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E1F35"/>
                </a:solidFill>
                <a:latin typeface="Calibri"/>
              </a:rPr>
              <a:t>▸  Mid-week (Tue–Fri) is the peak selling window across every quarter.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828800"/>
            <a:ext cx="3840480" cy="4114800"/>
          </a:xfrm>
          <a:prstGeom prst="roundRect">
            <a:avLst>
              <a:gd name="adj" fmla="val 8000"/>
            </a:avLst>
          </a:prstGeom>
          <a:solidFill>
            <a:srgbClr val="4A2C55"/>
          </a:solidFill>
          <a:ln w="9525">
            <a:solidFill>
              <a:srgbClr val="4A2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0116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8C0"/>
                </a:solidFill>
                <a:latin typeface="Calibri"/>
              </a:rPr>
              <a:t>THE BIG PICTURE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7744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$7.6bn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5661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7EFE6"/>
                </a:solidFill>
                <a:latin typeface="Calibri"/>
              </a:rPr>
              <a:t>in total revenue from 558.8k vehicle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389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8C0"/>
                </a:solidFill>
                <a:latin typeface="Calibri"/>
              </a:rPr>
              <a:t>FOCUS AREAS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754880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Lift margins • Expand top regions • Optimise mid-week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3 /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BUSINESS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Why this analysis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8580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Bright Motors recently appointed a new Head of Sales.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Mission: expand the dealership network, lift sales performance and optimise inventory.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Source data: daily transactional &amp; pricing records from the Bright Car Sales dataset.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E1F35"/>
                </a:solidFill>
                <a:latin typeface="Calibri"/>
              </a:rPr>
              <a:t>▸  Goal of this deck: turn historical data into actionable strategy.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737360"/>
            <a:ext cx="4114800" cy="4572000"/>
          </a:xfrm>
          <a:prstGeom prst="roundRect">
            <a:avLst>
              <a:gd name="adj" fmla="val 8000"/>
            </a:avLst>
          </a:prstGeom>
          <a:solidFill>
            <a:srgbClr val="F7EFE6"/>
          </a:solidFill>
          <a:ln w="9525">
            <a:solidFill>
              <a:srgbClr val="7B4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2C55"/>
                </a:solidFill>
                <a:latin typeface="Calibri"/>
              </a:rPr>
              <a:t>KEY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331720"/>
            <a:ext cx="365760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Which makes &amp; models earn the most?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How do price, mileage &amp; year relate?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Which regions sell the most?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What trends are emerging?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How can we lift profitability?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4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HEADLINE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The numbers that matter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2C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1F35"/>
                </a:solidFill>
                <a:latin typeface="Georgia"/>
              </a:rPr>
              <a:t>$7.6bn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82880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9659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96F97"/>
                </a:solidFill>
                <a:latin typeface="Calibri"/>
              </a:rPr>
              <a:t>VEHICLES SOLD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2402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1F35"/>
                </a:solidFill>
                <a:latin typeface="Georgia"/>
              </a:rPr>
              <a:t>558.8k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82880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9659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B4F82"/>
                </a:solidFill>
                <a:latin typeface="Calibri"/>
              </a:rPr>
              <a:t>MARKET VALUE (MMR)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2402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1F35"/>
                </a:solidFill>
                <a:latin typeface="Georgia"/>
              </a:rPr>
              <a:t>$7.7bn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182880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9659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96F97"/>
                </a:solidFill>
                <a:latin typeface="Calibri"/>
              </a:rPr>
              <a:t>AVG. SELLING PRICE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2402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1F35"/>
                </a:solidFill>
                <a:latin typeface="Georgia"/>
              </a:rPr>
              <a:t>~$13.6k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1188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490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2C55"/>
                </a:solidFill>
                <a:latin typeface="Calibri"/>
              </a:rPr>
              <a:t>HIGH-MARGIN 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1F35"/>
                </a:solidFill>
                <a:latin typeface="Georgia"/>
              </a:rPr>
              <a:t>10.1%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0712" y="361188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37490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96F97"/>
                </a:solidFill>
                <a:latin typeface="Calibri"/>
              </a:rPr>
              <a:t>TOP-5 MODELS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40233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1F35"/>
                </a:solidFill>
                <a:latin typeface="Georgia"/>
              </a:rPr>
              <a:t>$967m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2784" y="361188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37490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B4F82"/>
                </a:solidFill>
                <a:latin typeface="Calibri"/>
              </a:rPr>
              <a:t>#1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40233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1F35"/>
                </a:solidFill>
                <a:latin typeface="Georgia"/>
              </a:rPr>
              <a:t>FL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34856" y="361188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7736" y="37490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96F97"/>
                </a:solidFill>
                <a:latin typeface="Calibri"/>
              </a:rPr>
              <a:t>PEAK SELLING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40233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1F35"/>
                </a:solidFill>
                <a:latin typeface="Georgia"/>
              </a:rPr>
              <a:t>Tue–Fri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556B"/>
                </a:solidFill>
                <a:latin typeface="Calibri"/>
              </a:rPr>
              <a:t>Revenue is strong, but the margin mix and regional concentration tell the deeper story.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5 / 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REVENUE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Revenue by quarter, 2014 – 2015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2880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38160" y="182880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3383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1F35"/>
                </a:solidFill>
                <a:latin typeface="Calibri"/>
              </a:rPr>
              <a:t>Sales surged from early 2014 into Q1 2015 — a ~12× lift driven by inventory expansion.
A gradual taper through Q2–Q3 2015 suggests a normalisation phase, not a decline.
Q1 remains the strongest selling quarter — plan inventory and marketing accordingly.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6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TOP PERFORMERS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Top 5 best-selling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28800"/>
          <a:ext cx="71323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955279" y="1828800"/>
            <a:ext cx="3840480" cy="4389120"/>
          </a:xfrm>
          <a:prstGeom prst="roundRect">
            <a:avLst>
              <a:gd name="adj" fmla="val 8000"/>
            </a:avLst>
          </a:prstGeom>
          <a:solidFill>
            <a:srgbClr val="4A2C55"/>
          </a:solidFill>
          <a:ln w="9525">
            <a:solidFill>
              <a:srgbClr val="4A2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8C0"/>
                </a:solidFill>
                <a:latin typeface="Calibri"/>
              </a:rPr>
              <a:t>WHAT IT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33172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Ford F150 is the clear leader — pickup demand is strong.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Nissan Altima follows closely — sedan loyalty remains.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Top 5 = $967m (~13% of total revenue).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Concentration risk: stock &amp; promote beyond the top two.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7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PROFIT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Revenue share by profit 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73736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49440" y="1828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6F97"/>
                </a:solidFill>
                <a:latin typeface="Calibri"/>
              </a:rPr>
              <a:t>THE MARGIN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2860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E1F35"/>
                </a:solidFill>
                <a:latin typeface="Georgia"/>
              </a:rPr>
              <a:t>Nearly half of revenue is low-margin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383280"/>
            <a:ext cx="493776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E1F35"/>
                </a:solidFill>
                <a:latin typeface="Calibri"/>
              </a:rPr>
              <a:t>▸  Only 1 in 10 deals are High Margin.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E1F35"/>
                </a:solidFill>
                <a:latin typeface="Calibri"/>
              </a:rPr>
              <a:t>▸  Medium + Low margin make up 89.9% of revenue.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E1F35"/>
                </a:solidFill>
                <a:latin typeface="Calibri"/>
              </a:rPr>
              <a:t>▸  A small lift in High-Margin share would meaningfully grow profit.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8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GEOGRAPHIC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Top 10 states by 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2880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38160" y="182880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B4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2C55"/>
                </a:solidFill>
                <a:latin typeface="Calibri"/>
              </a:rPr>
              <a:t>REGIONAL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3383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1F35"/>
                </a:solidFill>
                <a:latin typeface="Calibri"/>
              </a:rPr>
              <a:t>Florida and California together generate ~$2.15 bn — over a quarter of total revenue.
Pennsylvania is a strong third, signalling demand in the Northeast.
Mid-tier states (TX, GA, NJ) are clear expansion targets for new dealerships.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9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WEEKLY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Average MMR by day of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2880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38160" y="182880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8A8C0"/>
          </a:solidFill>
          <a:ln w="9525">
            <a:solidFill>
              <a:srgbClr val="C9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2C55"/>
                </a:solidFill>
                <a:latin typeface="Calibri"/>
              </a:rPr>
              <a:t>OPERATIONAL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3383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1F35"/>
                </a:solidFill>
                <a:latin typeface="Calibri"/>
              </a:rPr>
              <a:t>Tuesday and Friday are peak trading days.
Sunday volumes drop sharply — many showrooms quiet.
Action: Staff and promotions should be weighted Tue–Fri; consider Sunday pop-up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10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PRICING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MMR vs Selling Price by quarter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2880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38160" y="182880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PRICING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3383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1F35"/>
                </a:solidFill>
                <a:latin typeface="Calibri"/>
              </a:rPr>
              <a:t>Selling Price tracks MMR closely — pricing is disciplined.
A small but consistent gap below MMR means money is being left on the table.
Tightening discounts by even 1–2% would directly boost margin.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11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CUSTOMER PREFERENCES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Color &amp; body-style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73736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556B"/>
                </a:solidFill>
                <a:latin typeface="Calibri"/>
              </a:rPr>
              <a:t>Sales by exterior colour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00800" y="1737360"/>
          <a:ext cx="530352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556B"/>
                </a:solidFill>
                <a:latin typeface="Calibri"/>
              </a:rPr>
              <a:t>Share by body type — Sedans &amp; SUVs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12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What the data is telling 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0195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96F9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85623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1F35"/>
                </a:solidFill>
                <a:latin typeface="Georgia"/>
              </a:rPr>
              <a:t>Revenue is concentrated.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1945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556B"/>
                </a:solidFill>
                <a:latin typeface="Calibri"/>
              </a:rPr>
              <a:t>Top 5 models = $967m, 2 states = $2.15bn. Diversify the bench.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7004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346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96F97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7889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1F35"/>
                </a:solidFill>
                <a:latin typeface="Georgia"/>
              </a:rPr>
              <a:t>Margins are the weak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12724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556B"/>
                </a:solidFill>
                <a:latin typeface="Calibri"/>
              </a:rPr>
              <a:t>Only 10% of revenue is High Margin — pricing &amp; cost discipline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02736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67328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96F97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72160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1F35"/>
                </a:solidFill>
                <a:latin typeface="Georgia"/>
              </a:rPr>
              <a:t>Trading is a weekday game.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059936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556B"/>
                </a:solidFill>
                <a:latin typeface="Calibri"/>
              </a:rPr>
              <a:t>Tue–Fri drive the bulk of MMR — align staffing &amp; promos.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35424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00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96F97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654296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1F35"/>
                </a:solidFill>
                <a:latin typeface="Georgia"/>
              </a:rPr>
              <a:t>Q1 is peak season.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92624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556B"/>
                </a:solidFill>
                <a:latin typeface="Calibri"/>
              </a:rPr>
              <a:t>Inventory and marketing should peak in early-quarter months.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68112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C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3270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96F97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58698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1F35"/>
                </a:solidFill>
                <a:latin typeface="Georgia"/>
              </a:rPr>
              <a:t>Pricing is disciplined.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92531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556B"/>
                </a:solidFill>
                <a:latin typeface="Calibri"/>
              </a:rPr>
              <a:t>Selling price closely tracks MMR — a small uplift goes straight to profit.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13 /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5029200" cy="6858000"/>
          </a:xfrm>
          <a:prstGeom prst="rtTriangle">
            <a:avLst/>
          </a:prstGeom>
          <a:solidFill>
            <a:srgbClr val="EE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E8A8C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029200"/>
            <a:ext cx="3657600" cy="3657600"/>
          </a:xfrm>
          <a:prstGeom prst="ellipse">
            <a:avLst/>
          </a:prstGeom>
          <a:solidFill>
            <a:srgbClr val="7B4F8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6F97"/>
                </a:solidFill>
                <a:latin typeface="Calibri"/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1F35"/>
                </a:solidFill>
                <a:latin typeface="Georgia"/>
              </a:rPr>
              <a:t>Actions for the new Head of Sales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" cy="457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4A2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3520440" cy="50292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0136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Lift Margin Mix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32461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Set a target to grow High-Margin share from 10% to 15% in 12 months.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Train sales teams on value-based selling, not just price-cutting.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Tighten discount approval thresholds.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73736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737360"/>
            <a:ext cx="3520440" cy="502920"/>
          </a:xfrm>
          <a:prstGeom prst="rect">
            <a:avLst/>
          </a:prstGeom>
          <a:solidFill>
            <a:srgbClr val="C9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80136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Expand Smartly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423160"/>
            <a:ext cx="32461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Open new dealerships in TX, GA and NJ — high-potential mid-tier states.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Defend market leadership in FL, CA and PA with loyalty programmes.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173736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B4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1737360"/>
            <a:ext cx="3520440" cy="502920"/>
          </a:xfrm>
          <a:prstGeom prst="rect">
            <a:avLst/>
          </a:prstGeom>
          <a:solidFill>
            <a:srgbClr val="7B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80136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Optimise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423160"/>
            <a:ext cx="32461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Weight staffing &amp; promotions toward Tue–Fri.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Pilot Sunday community events to test weekend demand.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E1F35"/>
                </a:solidFill>
                <a:latin typeface="Calibri"/>
              </a:rPr>
              <a:t>▸  Stock-up on F150 and Altima ahead of Q1 each year.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556B"/>
                </a:solidFill>
                <a:latin typeface="Calibri"/>
              </a:rPr>
              <a:t>14 /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556B"/>
                </a:solidFill>
                <a:latin typeface="Calibri"/>
              </a:rPr>
              <a:t>BRIGHT MOTORS  •  Sales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C96F9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3657600"/>
            <a:ext cx="6400800" cy="6400800"/>
          </a:xfrm>
          <a:prstGeom prst="ellipse">
            <a:avLst/>
          </a:prstGeom>
          <a:solidFill>
            <a:srgbClr val="D9C3A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7EFE6"/>
                </a:solidFill>
                <a:latin typeface="Georgia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E8A8C0"/>
                </a:solidFill>
                <a:latin typeface="Georgia"/>
              </a:rPr>
              <a:t>Questions &amp; discussion.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Georgia"/>
              </a:rPr>
              <a:t>Created by Mogau Mabula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7EFE6"/>
                </a:solidFill>
                <a:latin typeface="Calibri"/>
              </a:rPr>
              <a:t>Bright Motors  •  Sales Analysis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